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y="6858000" cx="12191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1" roundtripDataSignature="AMtx7miQGqclsl9Gymx/WKb2713rk+ncO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794A6F7-809F-46DB-B3C1-3C30CC7A77E1}">
  <a:tblStyle styleId="{A794A6F7-809F-46DB-B3C1-3C30CC7A77E1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1B138363-E9CC-4FF8-A480-7A5BD892BA98}" styleName="Table_1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8" name="Google Shape;148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9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9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2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21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21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21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21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3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3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3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4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4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4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5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6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6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1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Relationship Id="rId4" Type="http://schemas.openxmlformats.org/officeDocument/2006/relationships/image" Target="../media/image16.png"/><Relationship Id="rId5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1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5.png"/><Relationship Id="rId7" Type="http://schemas.openxmlformats.org/officeDocument/2006/relationships/image" Target="../media/image25.png"/><Relationship Id="rId8" Type="http://schemas.openxmlformats.org/officeDocument/2006/relationships/image" Target="../media/image1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2.png"/><Relationship Id="rId4" Type="http://schemas.openxmlformats.org/officeDocument/2006/relationships/image" Target="../media/image1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9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2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Relationship Id="rId4" Type="http://schemas.openxmlformats.org/officeDocument/2006/relationships/image" Target="../media/image14.png"/><Relationship Id="rId5" Type="http://schemas.openxmlformats.org/officeDocument/2006/relationships/image" Target="../media/image23.png"/><Relationship Id="rId6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005840" y="1325880"/>
            <a:ext cx="10149840" cy="17373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Low-Dropout (LDO) Voltage Regulator in SKY130A</a:t>
            </a:r>
            <a:b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0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Simulation, Physical Verification &amp; Post-Layout Validation</a:t>
            </a:r>
            <a:endParaRPr/>
          </a:p>
          <a:p>
            <a:pPr indent="0" lvl="0" marL="0" marR="0" rtl="0" algn="ctr">
              <a:spcBef>
                <a:spcPts val="1200"/>
              </a:spcBef>
              <a:spcAft>
                <a:spcPts val="0"/>
              </a:spcAft>
              <a:buNone/>
            </a:pPr>
            <a:r>
              <a:rPr b="0" i="0" lang="en-US" sz="1600" u="none" cap="none" strike="noStrik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Silicluster v3 Analog Project Submission  |  VDD = 1.8 V  |  VOUT = 1.2 V  |  Iload = 0 – 5 mA</a:t>
            </a:r>
            <a:endParaRPr/>
          </a:p>
        </p:txBody>
      </p:sp>
      <p:sp>
        <p:nvSpPr>
          <p:cNvPr id="85" name="Google Shape;85;p1"/>
          <p:cNvSpPr txBox="1"/>
          <p:nvPr/>
        </p:nvSpPr>
        <p:spPr>
          <a:xfrm>
            <a:off x="1828800" y="3429000"/>
            <a:ext cx="8534100" cy="1485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Luigy A</a:t>
            </a:r>
            <a:r>
              <a:rPr b="1" lang="en-US" sz="2200"/>
              <a:t>mado  Jeison Acevedo Daniel Castellanos</a:t>
            </a:r>
            <a:endParaRPr/>
          </a:p>
          <a:p>
            <a:pPr indent="0" lvl="0" marL="0" marR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Integrated Circuit and Systems Research Group – OnChip</a:t>
            </a:r>
            <a:endParaRPr/>
          </a:p>
          <a:p>
            <a:pPr indent="0" lvl="0" marL="0" marR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Universidad Industrial de Santander, Bucaramanga - Colombia</a:t>
            </a:r>
            <a:endParaRPr/>
          </a:p>
          <a:p>
            <a:pPr indent="0" lvl="0" marL="0" marR="0" rtl="0" algn="ctr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lduran2805@gmail.com  |  </a:t>
            </a:r>
            <a:r>
              <a:rPr lang="en-US" sz="1800"/>
              <a:t>luigy2230397</a:t>
            </a:r>
            <a:r>
              <a:rPr b="0" i="0" lang="en-US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@correo.uis.edu.co</a:t>
            </a:r>
            <a:endParaRPr/>
          </a:p>
        </p:txBody>
      </p:sp>
      <p:pic>
        <p:nvPicPr>
          <p:cNvPr descr="logo_uis.png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05840" y="5047488"/>
            <a:ext cx="2275581" cy="111556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_onchip.png" id="87" name="Google Shape;8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012680" y="5029200"/>
            <a:ext cx="1187051" cy="1143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"/>
          <p:cNvSpPr txBox="1"/>
          <p:nvPr/>
        </p:nvSpPr>
        <p:spPr>
          <a:xfrm>
            <a:off x="457200" y="182880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Outline</a:t>
            </a:r>
            <a:endParaRPr/>
          </a:p>
        </p:txBody>
      </p:sp>
      <p:sp>
        <p:nvSpPr>
          <p:cNvPr id="93" name="Google Shape;93;p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2"/>
          <p:cNvSpPr txBox="1"/>
          <p:nvPr/>
        </p:nvSpPr>
        <p:spPr>
          <a:xfrm>
            <a:off x="11064240" y="6382512"/>
            <a:ext cx="685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endParaRPr/>
          </a:p>
        </p:txBody>
      </p:sp>
      <p:sp>
        <p:nvSpPr>
          <p:cNvPr id="95" name="Google Shape;95;p2"/>
          <p:cNvSpPr txBox="1"/>
          <p:nvPr/>
        </p:nvSpPr>
        <p:spPr>
          <a:xfrm>
            <a:off x="594360" y="1188720"/>
            <a:ext cx="10972800" cy="50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1. General Specifications &amp; External Interface (LDO.v &amp; Silicluster v3)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2. Top-Level LDO Regulator Schematic Architecture (LDO.sch)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3. VDD-Independent Self-Biased Current Reference Circuit (self_bias.sch)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4. Two-Stage Miller-Compensated Error Amplifier (OTA.sch)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5. Pre-Layout Simulation Results: AC Stability &amp; PSRR (225 PVT Corners)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6. Pre-Layout Simulation Results: Transient Response &amp; DC Regulations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7. Monte Carlo Statistical Analysis (Process &amp; Mismatch Variability)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8. Physical Layout Design, Area (152.4 µm × 82.9 µm) &amp; M4/M5 Power Grid (LDO.gds)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9. Physical Verification Evidence: Clean DRC &amp; LVS in KLayout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10. Post-Layout (PEX) Validation: Response Curves Across PVT Corners</a:t>
            </a:r>
            <a:endParaRPr/>
          </a:p>
          <a:p>
            <a:pPr indent="0" lvl="0" marL="0" marR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b="0" i="0" lang="en-US" sz="1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11. Final Comparison: Pre-Layout vs. Post-Layout (PEX)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"/>
          <p:cNvSpPr txBox="1"/>
          <p:nvPr/>
        </p:nvSpPr>
        <p:spPr>
          <a:xfrm>
            <a:off x="457200" y="182880"/>
            <a:ext cx="112470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1. Specifications &amp; External Interface (Silicluster v3)</a:t>
            </a:r>
            <a:endParaRPr/>
          </a:p>
        </p:txBody>
      </p:sp>
      <p:sp>
        <p:nvSpPr>
          <p:cNvPr id="101" name="Google Shape;101;p3"/>
          <p:cNvSpPr/>
          <p:nvPr/>
        </p:nvSpPr>
        <p:spPr>
          <a:xfrm>
            <a:off x="0" y="914400"/>
            <a:ext cx="12191700" cy="73200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3"/>
          <p:cNvSpPr txBox="1"/>
          <p:nvPr/>
        </p:nvSpPr>
        <p:spPr>
          <a:xfrm>
            <a:off x="11064240" y="6382512"/>
            <a:ext cx="6858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endParaRPr/>
          </a:p>
        </p:txBody>
      </p:sp>
      <p:sp>
        <p:nvSpPr>
          <p:cNvPr id="103" name="Google Shape;103;p3"/>
          <p:cNvSpPr txBox="1"/>
          <p:nvPr/>
        </p:nvSpPr>
        <p:spPr>
          <a:xfrm>
            <a:off x="457200" y="1115575"/>
            <a:ext cx="6237000" cy="303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PDK Technology: SkyWater 130 nm Open Source PDK (sky130A).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Nominal Analog Supply: VDD = 1.8 V (range: 1.62 V – 1.98 V, VSS = 0 V).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Input Voltage Range: VIN = 1.</a:t>
            </a:r>
            <a:r>
              <a:rPr lang="en-US" sz="1350"/>
              <a:t>3-1.8</a:t>
            </a:r>
            <a:r>
              <a:rPr b="0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 nominal (mean Dropout ≈ 60.7 mV).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Reference &amp; Output: External Vref = 0.6 V → VOUT = 1.2 V (Iload = 0 to 5 mA).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Total Physical Area: 152.43 µm × 82.91 µm (standard limit: 180 µm × 115 µm).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Power Grid: Vertical tracks on Metal 4 (M4) and horizontal rails on Metal 5 (M5).</a:t>
            </a:r>
            <a:endParaRPr b="0" i="0" sz="13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en-US" sz="1350">
                <a:solidFill>
                  <a:schemeClr val="dk1"/>
                </a:solidFill>
              </a:rPr>
              <a:t>•  Power Grid: Vertical tracks on Metal 4 (M4) and horizontal rails on Metal 5 (M5).</a:t>
            </a:r>
            <a:endParaRPr sz="135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Physical Verification: 0 DRC errors (sky130_drc.txt) and 100% clean LVS (LDO.lvsdb).</a:t>
            </a:r>
            <a:endParaRPr/>
          </a:p>
        </p:txBody>
      </p:sp>
      <p:sp>
        <p:nvSpPr>
          <p:cNvPr id="104" name="Google Shape;104;p3"/>
          <p:cNvSpPr txBox="1"/>
          <p:nvPr/>
        </p:nvSpPr>
        <p:spPr>
          <a:xfrm>
            <a:off x="457195" y="4773770"/>
            <a:ext cx="5852100" cy="138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00" u="none" cap="none" strike="noStrike">
                <a:solidFill>
                  <a:srgbClr val="003399"/>
                </a:solidFill>
                <a:latin typeface="Courier New"/>
                <a:ea typeface="Courier New"/>
                <a:cs typeface="Courier New"/>
                <a:sym typeface="Courier New"/>
              </a:rPr>
              <a:t>External Verilog Interface (LDO.v):</a:t>
            </a:r>
            <a:br>
              <a:rPr b="1" i="0" lang="en-US" sz="1200" u="none" cap="none" strike="noStrike">
                <a:solidFill>
                  <a:srgbClr val="00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200" u="none" cap="none" strike="noStrike">
                <a:solidFill>
                  <a:srgbClr val="003399"/>
                </a:solidFill>
                <a:latin typeface="Courier New"/>
                <a:ea typeface="Courier New"/>
                <a:cs typeface="Courier New"/>
                <a:sym typeface="Courier New"/>
              </a:rPr>
              <a:t>module LDO (</a:t>
            </a:r>
            <a:br>
              <a:rPr b="1" i="0" lang="en-US" sz="1200" u="none" cap="none" strike="noStrike">
                <a:solidFill>
                  <a:srgbClr val="00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200" u="none" cap="none" strike="noStrike">
                <a:solidFill>
                  <a:srgbClr val="003399"/>
                </a:solidFill>
                <a:latin typeface="Courier New"/>
                <a:ea typeface="Courier New"/>
                <a:cs typeface="Courier New"/>
                <a:sym typeface="Courier New"/>
              </a:rPr>
              <a:t>    inout  VDD,   inout  VSS,</a:t>
            </a:r>
            <a:br>
              <a:rPr b="1" i="0" lang="en-US" sz="1200" u="none" cap="none" strike="noStrike">
                <a:solidFill>
                  <a:srgbClr val="00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200" u="none" cap="none" strike="noStrike">
                <a:solidFill>
                  <a:srgbClr val="003399"/>
                </a:solidFill>
                <a:latin typeface="Courier New"/>
                <a:ea typeface="Courier New"/>
                <a:cs typeface="Courier New"/>
                <a:sym typeface="Courier New"/>
              </a:rPr>
              <a:t>    input  VIN,   input  Vref,</a:t>
            </a:r>
            <a:br>
              <a:rPr b="1" i="0" lang="en-US" sz="1200" u="none" cap="none" strike="noStrike">
                <a:solidFill>
                  <a:srgbClr val="00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200" u="none" cap="none" strike="noStrike">
                <a:solidFill>
                  <a:srgbClr val="003399"/>
                </a:solidFill>
                <a:latin typeface="Courier New"/>
                <a:ea typeface="Courier New"/>
                <a:cs typeface="Courier New"/>
                <a:sym typeface="Courier New"/>
              </a:rPr>
              <a:t>    output VOUT</a:t>
            </a:r>
            <a:br>
              <a:rPr b="1" i="0" lang="en-US" sz="1200" u="none" cap="none" strike="noStrike">
                <a:solidFill>
                  <a:srgbClr val="00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200" u="none" cap="none" strike="noStrike">
                <a:solidFill>
                  <a:srgbClr val="003399"/>
                </a:solidFill>
                <a:latin typeface="Courier New"/>
                <a:ea typeface="Courier New"/>
                <a:cs typeface="Courier New"/>
                <a:sym typeface="Courier New"/>
              </a:rPr>
              <a:t>);</a:t>
            </a:r>
            <a:br>
              <a:rPr b="1" i="0" lang="en-US" sz="1200" u="none" cap="none" strike="noStrike">
                <a:solidFill>
                  <a:srgbClr val="003399"/>
                </a:solidFill>
                <a:latin typeface="Courier New"/>
                <a:ea typeface="Courier New"/>
                <a:cs typeface="Courier New"/>
                <a:sym typeface="Courier New"/>
              </a:rPr>
            </a:br>
            <a:r>
              <a:rPr b="1" i="0" lang="en-US" sz="1200" u="none" cap="none" strike="noStrike">
                <a:solidFill>
                  <a:srgbClr val="003399"/>
                </a:solidFill>
                <a:latin typeface="Courier New"/>
                <a:ea typeface="Courier New"/>
                <a:cs typeface="Courier New"/>
                <a:sym typeface="Courier New"/>
              </a:rPr>
              <a:t>endmodule</a:t>
            </a:r>
            <a:endParaRPr/>
          </a:p>
        </p:txBody>
      </p:sp>
      <p:graphicFrame>
        <p:nvGraphicFramePr>
          <p:cNvPr id="105" name="Google Shape;105;p3"/>
          <p:cNvGraphicFramePr/>
          <p:nvPr/>
        </p:nvGraphicFramePr>
        <p:xfrm>
          <a:off x="6807075" y="1115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{A794A6F7-809F-46DB-B3C1-3C30CC7A77E1}</a:tableStyleId>
              </a:tblPr>
              <a:tblGrid>
                <a:gridCol w="746875"/>
                <a:gridCol w="574525"/>
                <a:gridCol w="976700"/>
                <a:gridCol w="919250"/>
                <a:gridCol w="1838500"/>
              </a:tblGrid>
              <a:tr h="558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FFFFFF"/>
                          </a:solidFill>
                          <a:highlight>
                            <a:srgbClr val="1F497D"/>
                          </a:highlight>
                        </a:rPr>
                        <a:t>Pin Name</a:t>
                      </a:r>
                      <a:endParaRPr b="1" sz="950">
                        <a:solidFill>
                          <a:srgbClr val="FFFFFF"/>
                        </a:solidFill>
                        <a:highlight>
                          <a:srgbClr val="1F497D"/>
                        </a:highlight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FFFFFF"/>
                          </a:solidFill>
                          <a:highlight>
                            <a:srgbClr val="1F497D"/>
                          </a:highlight>
                        </a:rPr>
                        <a:t>Direction</a:t>
                      </a:r>
                      <a:endParaRPr b="1" sz="950">
                        <a:solidFill>
                          <a:srgbClr val="FFFFFF"/>
                        </a:solidFill>
                        <a:highlight>
                          <a:srgbClr val="1F497D"/>
                        </a:highlight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FFFFFF"/>
                          </a:solidFill>
                          <a:highlight>
                            <a:srgbClr val="1F497D"/>
                          </a:highlight>
                        </a:rPr>
                        <a:t>Layout Layer</a:t>
                      </a:r>
                      <a:endParaRPr b="1" sz="950">
                        <a:solidFill>
                          <a:srgbClr val="FFFFFF"/>
                        </a:solidFill>
                        <a:highlight>
                          <a:srgbClr val="1F497D"/>
                        </a:highlight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FFFFFF"/>
                          </a:solidFill>
                          <a:highlight>
                            <a:srgbClr val="1F497D"/>
                          </a:highlight>
                        </a:rPr>
                        <a:t>Track Width</a:t>
                      </a:r>
                      <a:endParaRPr b="1" sz="950">
                        <a:solidFill>
                          <a:srgbClr val="FFFFFF"/>
                        </a:solidFill>
                        <a:highlight>
                          <a:srgbClr val="1F497D"/>
                        </a:highlight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97D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FFFFFF"/>
                          </a:solidFill>
                          <a:highlight>
                            <a:srgbClr val="1F497D"/>
                          </a:highlight>
                        </a:rPr>
                        <a:t>Requested Chip Assignment</a:t>
                      </a:r>
                      <a:endParaRPr b="1" sz="950">
                        <a:solidFill>
                          <a:srgbClr val="FFFFFF"/>
                        </a:solidFill>
                        <a:highlight>
                          <a:srgbClr val="1F497D"/>
                        </a:highlight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497D"/>
                    </a:solidFill>
                  </a:tcPr>
                </a:tc>
              </a:tr>
              <a:tr h="458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1F497D"/>
                          </a:solidFill>
                          <a:highlight>
                            <a:srgbClr val="CFD7E7"/>
                          </a:highlight>
                        </a:rPr>
                        <a:t>VDD</a:t>
                      </a:r>
                      <a:endParaRPr b="1" sz="950">
                        <a:solidFill>
                          <a:srgbClr val="1F497D"/>
                        </a:solidFill>
                        <a:highlight>
                          <a:srgbClr val="CFD7E7"/>
                        </a:highlight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highlight>
                            <a:srgbClr val="CFD7E7"/>
                          </a:highlight>
                        </a:rPr>
                        <a:t>inout</a:t>
                      </a:r>
                      <a:endParaRPr sz="950">
                        <a:solidFill>
                          <a:srgbClr val="000000"/>
                        </a:solidFill>
                        <a:highlight>
                          <a:srgbClr val="CFD7E7"/>
                        </a:highlight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highlight>
                            <a:srgbClr val="CFD7E7"/>
                          </a:highlight>
                        </a:rPr>
                        <a:t>met4 (V) / met5 (H)</a:t>
                      </a:r>
                      <a:endParaRPr sz="950">
                        <a:solidFill>
                          <a:srgbClr val="000000"/>
                        </a:solidFill>
                        <a:highlight>
                          <a:srgbClr val="CFD7E7"/>
                        </a:highlight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highlight>
                            <a:srgbClr val="CFD7E7"/>
                          </a:highlight>
                        </a:rPr>
                        <a:t>1.0 μm / 2.0 μm</a:t>
                      </a:r>
                      <a:endParaRPr sz="950">
                        <a:solidFill>
                          <a:srgbClr val="000000"/>
                        </a:solidFill>
                        <a:highlight>
                          <a:srgbClr val="CFD7E7"/>
                        </a:highlight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highlight>
                            <a:srgbClr val="CFD7E7"/>
                          </a:highlight>
                        </a:rPr>
                        <a:t>Power Grid VDD (1.8 V)</a:t>
                      </a:r>
                      <a:endParaRPr sz="950">
                        <a:solidFill>
                          <a:srgbClr val="000000"/>
                        </a:solidFill>
                        <a:highlight>
                          <a:srgbClr val="CFD7E7"/>
                        </a:highlight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</a:tr>
              <a:tr h="4773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1F497D"/>
                          </a:solidFill>
                        </a:rPr>
                        <a:t>VSS</a:t>
                      </a:r>
                      <a:endParaRPr b="1" sz="950">
                        <a:solidFill>
                          <a:srgbClr val="1F497D"/>
                        </a:solidFill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inout</a:t>
                      </a:r>
                      <a:endParaRPr sz="950">
                        <a:solidFill>
                          <a:srgbClr val="000000"/>
                        </a:solidFill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met4 (V) / met5 (H)</a:t>
                      </a:r>
                      <a:endParaRPr sz="950">
                        <a:solidFill>
                          <a:srgbClr val="000000"/>
                        </a:solidFill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1.0 μm / 2.0 μm</a:t>
                      </a:r>
                      <a:endParaRPr sz="950">
                        <a:solidFill>
                          <a:srgbClr val="000000"/>
                        </a:solidFill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Power Grid VSS (0 V)</a:t>
                      </a:r>
                      <a:endParaRPr sz="950">
                        <a:solidFill>
                          <a:srgbClr val="000000"/>
                        </a:solidFill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58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1F497D"/>
                          </a:solidFill>
                          <a:highlight>
                            <a:srgbClr val="CFD7E7"/>
                          </a:highlight>
                        </a:rPr>
                        <a:t>VIN</a:t>
                      </a:r>
                      <a:endParaRPr b="1" sz="950">
                        <a:solidFill>
                          <a:srgbClr val="1F497D"/>
                        </a:solidFill>
                        <a:highlight>
                          <a:srgbClr val="CFD7E7"/>
                        </a:highlight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highlight>
                            <a:srgbClr val="CFD7E7"/>
                          </a:highlight>
                        </a:rPr>
                        <a:t>input</a:t>
                      </a:r>
                      <a:endParaRPr sz="950">
                        <a:solidFill>
                          <a:srgbClr val="000000"/>
                        </a:solidFill>
                        <a:highlight>
                          <a:srgbClr val="CFD7E7"/>
                        </a:highlight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highlight>
                            <a:srgbClr val="CFD7E7"/>
                          </a:highlight>
                        </a:rPr>
                        <a:t>met3 (70/20)</a:t>
                      </a:r>
                      <a:endParaRPr sz="950">
                        <a:solidFill>
                          <a:srgbClr val="000000"/>
                        </a:solidFill>
                        <a:highlight>
                          <a:srgbClr val="CFD7E7"/>
                        </a:highlight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highlight>
                            <a:srgbClr val="CFD7E7"/>
                          </a:highlight>
                        </a:rPr>
                        <a:t>2.0 μm</a:t>
                      </a:r>
                      <a:endParaRPr sz="950">
                        <a:solidFill>
                          <a:srgbClr val="000000"/>
                        </a:solidFill>
                        <a:highlight>
                          <a:srgbClr val="CFD7E7"/>
                        </a:highlight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highlight>
                            <a:srgbClr val="CFD7E7"/>
                          </a:highlight>
                        </a:rPr>
                        <a:t>1 Analog Input Pad (1.3–1.8 V)</a:t>
                      </a:r>
                      <a:endParaRPr sz="950">
                        <a:solidFill>
                          <a:srgbClr val="000000"/>
                        </a:solidFill>
                        <a:highlight>
                          <a:srgbClr val="CFD7E7"/>
                        </a:highlight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</a:tr>
              <a:tr h="4588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1F497D"/>
                          </a:solidFill>
                        </a:rPr>
                        <a:t>Vref</a:t>
                      </a:r>
                      <a:endParaRPr b="1" sz="950">
                        <a:solidFill>
                          <a:srgbClr val="1F497D"/>
                        </a:solidFill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input</a:t>
                      </a:r>
                      <a:endParaRPr sz="950">
                        <a:solidFill>
                          <a:srgbClr val="000000"/>
                        </a:solidFill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met3 (70/20)</a:t>
                      </a:r>
                      <a:endParaRPr sz="950">
                        <a:solidFill>
                          <a:srgbClr val="000000"/>
                        </a:solidFill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0.30 μm</a:t>
                      </a:r>
                      <a:endParaRPr sz="950">
                        <a:solidFill>
                          <a:srgbClr val="000000"/>
                        </a:solidFill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</a:rPr>
                        <a:t>1 Analog Reference Pad (0.6 V)</a:t>
                      </a:r>
                      <a:endParaRPr sz="950">
                        <a:solidFill>
                          <a:srgbClr val="000000"/>
                        </a:solidFill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22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>
                          <a:solidFill>
                            <a:srgbClr val="1F497D"/>
                          </a:solidFill>
                          <a:highlight>
                            <a:srgbClr val="CFD7E7"/>
                          </a:highlight>
                        </a:rPr>
                        <a:t>VOUT</a:t>
                      </a:r>
                      <a:endParaRPr b="1" sz="950">
                        <a:solidFill>
                          <a:srgbClr val="1F497D"/>
                        </a:solidFill>
                        <a:highlight>
                          <a:srgbClr val="CFD7E7"/>
                        </a:highlight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highlight>
                            <a:srgbClr val="CFD7E7"/>
                          </a:highlight>
                        </a:rPr>
                        <a:t>output</a:t>
                      </a:r>
                      <a:endParaRPr sz="950">
                        <a:solidFill>
                          <a:srgbClr val="000000"/>
                        </a:solidFill>
                        <a:highlight>
                          <a:srgbClr val="CFD7E7"/>
                        </a:highlight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highlight>
                            <a:srgbClr val="CFD7E7"/>
                          </a:highlight>
                        </a:rPr>
                        <a:t>met3 (70/20)</a:t>
                      </a:r>
                      <a:endParaRPr sz="950">
                        <a:solidFill>
                          <a:srgbClr val="000000"/>
                        </a:solidFill>
                        <a:highlight>
                          <a:srgbClr val="CFD7E7"/>
                        </a:highlight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highlight>
                            <a:srgbClr val="CFD7E7"/>
                          </a:highlight>
                        </a:rPr>
                        <a:t>2.0 μm (x2 branches)</a:t>
                      </a:r>
                      <a:endParaRPr sz="950">
                        <a:solidFill>
                          <a:srgbClr val="000000"/>
                        </a:solidFill>
                        <a:highlight>
                          <a:srgbClr val="CFD7E7"/>
                        </a:highlight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000000"/>
                          </a:solidFill>
                          <a:highlight>
                            <a:srgbClr val="CFD7E7"/>
                          </a:highlight>
                        </a:rPr>
                        <a:t>2 Analog Output Pins / Pads (connected to the two met3 branches)</a:t>
                      </a:r>
                      <a:endParaRPr sz="950">
                        <a:solidFill>
                          <a:srgbClr val="000000"/>
                        </a:solidFill>
                        <a:highlight>
                          <a:srgbClr val="CFD7E7"/>
                        </a:highlight>
                      </a:endParaRPr>
                    </a:p>
                  </a:txBody>
                  <a:tcPr marT="57150" marB="57150" marR="57150" marL="57150">
                    <a:lnL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FFFFFF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CFD7E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4"/>
          <p:cNvSpPr txBox="1"/>
          <p:nvPr/>
        </p:nvSpPr>
        <p:spPr>
          <a:xfrm>
            <a:off x="457200" y="182880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2. Top-Level LDO Schematic Architecture</a:t>
            </a:r>
            <a:endParaRPr/>
          </a:p>
        </p:txBody>
      </p:sp>
      <p:sp>
        <p:nvSpPr>
          <p:cNvPr id="111" name="Google Shape;111;p4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2" name="Google Shape;112;p4"/>
          <p:cNvSpPr txBox="1"/>
          <p:nvPr/>
        </p:nvSpPr>
        <p:spPr>
          <a:xfrm>
            <a:off x="11064240" y="6382512"/>
            <a:ext cx="685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  <a:endParaRPr/>
          </a:p>
        </p:txBody>
      </p:sp>
      <p:sp>
        <p:nvSpPr>
          <p:cNvPr id="113" name="Google Shape;113;p4"/>
          <p:cNvSpPr txBox="1"/>
          <p:nvPr/>
        </p:nvSpPr>
        <p:spPr>
          <a:xfrm>
            <a:off x="411480" y="1097280"/>
            <a:ext cx="530352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The LDO regulator integrates 3 core building blocks in closed loop: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1) Self-Bias Generator (x2): Provides bias voltage Vgn_bias (~0.71 V) to the OTA without external current sources.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2) OTA Error Amplifier (x1): Compares Vref (0.6 V) against feedback node Vre and drives pass transistor gate Vgp.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3) Power &amp; Feedback Stage: PMOS LVT M1 (W=750 µm, L=0.5 µm), divider R1=R11=110.4 kΩ (VOUT=1.2 V), R2=11.94 kΩ, and MIM cap C1=2.1 pF.</a:t>
            </a:r>
            <a:endParaRPr/>
          </a:p>
        </p:txBody>
      </p:sp>
      <p:graphicFrame>
        <p:nvGraphicFramePr>
          <p:cNvPr id="114" name="Google Shape;114;p4"/>
          <p:cNvGraphicFramePr/>
          <p:nvPr/>
        </p:nvGraphicFramePr>
        <p:xfrm>
          <a:off x="411480" y="374903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{1B138363-E9CC-4FF8-A480-7A5BD892BA98}</a:tableStyleId>
              </a:tblPr>
              <a:tblGrid>
                <a:gridCol w="685800"/>
                <a:gridCol w="1417325"/>
                <a:gridCol w="1783075"/>
                <a:gridCol w="1554475"/>
              </a:tblGrid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Elem.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1235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Sky130A Model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1235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Dimensions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1235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Function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12356E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M1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pfet_01v8_lvt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W=750µm, L=0.5µm, nf=75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PMOS pass transistor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R1, R11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res_xhigh_po_0p69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0.69×38.08µm (110.4 kΩ)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Feedback divider (Vre = 0.5·VOUT)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R2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res_xhigh_po_0p69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0.69×4.12µm (11.94 kΩ)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Minimum bleeder load (~100 µA)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</a:tr>
              <a:tr h="3474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C1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cap_mim_m3_2 (M4)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35µm × 30µm (2.10 pF)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Feedforward capacitor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descr="ldo_sch.png" id="115" name="Google Shape;11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874175" y="1400738"/>
            <a:ext cx="6317523" cy="4422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self_bias_sch.png" id="120" name="Google Shape;12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219776" y="1356901"/>
            <a:ext cx="7858701" cy="550110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 txBox="1"/>
          <p:nvPr/>
        </p:nvSpPr>
        <p:spPr>
          <a:xfrm>
            <a:off x="457200" y="182880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3. Self-Biased Current Reference Generator (Self-Bias)</a:t>
            </a:r>
            <a:endParaRPr/>
          </a:p>
        </p:txBody>
      </p:sp>
      <p:sp>
        <p:nvSpPr>
          <p:cNvPr id="122" name="Google Shape;122;p5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5"/>
          <p:cNvSpPr txBox="1"/>
          <p:nvPr/>
        </p:nvSpPr>
        <p:spPr>
          <a:xfrm>
            <a:off x="11064240" y="6382512"/>
            <a:ext cx="685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  <a:endParaRPr/>
          </a:p>
        </p:txBody>
      </p:sp>
      <p:sp>
        <p:nvSpPr>
          <p:cNvPr id="124" name="Google Shape;124;p5"/>
          <p:cNvSpPr txBox="1"/>
          <p:nvPr/>
        </p:nvSpPr>
        <p:spPr>
          <a:xfrm>
            <a:off x="411480" y="1097280"/>
            <a:ext cx="5669280" cy="23774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Beta-Multiplier topology with source resistive degeneration (R11 = 60 kΩ).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Bias Core: 1:1 PMOS LVT current mirror (Mp3, Mp4 with W=30 µm, L=1 µm, nf=6) and NMOS pair (Mn1 with W=5 µm, Mn2 with W=24 µm).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Nominal Operating Point (TT, 27 °C, 1.8 V): VR = 0.7138 V and Ibias = 11.82 µA.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Start-Up Circuit: 5 series PMOS LVT devices (Ms2, Ms4–Ms7 with W=0.5 µm, L=5 µm) with Ms3 and Ms1 preventing the zero-current state at power-up.</a:t>
            </a:r>
            <a:endParaRPr/>
          </a:p>
        </p:txBody>
      </p:sp>
      <p:graphicFrame>
        <p:nvGraphicFramePr>
          <p:cNvPr id="125" name="Google Shape;125;p5"/>
          <p:cNvGraphicFramePr/>
          <p:nvPr/>
        </p:nvGraphicFramePr>
        <p:xfrm>
          <a:off x="411480" y="36118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{1B138363-E9CC-4FF8-A480-7A5BD892BA98}</a:tableStyleId>
              </a:tblPr>
              <a:tblGrid>
                <a:gridCol w="960125"/>
                <a:gridCol w="1325875"/>
                <a:gridCol w="594350"/>
                <a:gridCol w="594350"/>
                <a:gridCol w="502925"/>
                <a:gridCol w="1737350"/>
              </a:tblGrid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Device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1235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Sky130A Model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1235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 [µm]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1235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 [µm]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1235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nf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1235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Role in Circuit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12356E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Mp3, Mp4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pfet_01v8_lvt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30.0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Upper PMOS mirror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Mn1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nfet_01v8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5.0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Left NMOS reference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Mn2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nfet_01v8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24.0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R11-degenerated NMOS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R11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res_xhigh_po_0p69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0.69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20.7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Ibias resistor (60 kΩ)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Ms</a:t>
                      </a:r>
                      <a:r>
                        <a:rPr b="1" lang="en-US" sz="950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r>
                        <a:rPr b="1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 Ms2 </a:t>
                      </a:r>
                      <a:r>
                        <a:rPr b="1" lang="en-US" sz="950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</a:t>
                      </a:r>
                      <a:r>
                        <a:rPr b="1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Ms4–7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pfet_01v8_lvt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0.5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5.0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Start-up branch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Ms1 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nfet_01v8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/ 20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 / 5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Start-up injection &amp; cutoff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6"/>
          <p:cNvSpPr txBox="1"/>
          <p:nvPr/>
        </p:nvSpPr>
        <p:spPr>
          <a:xfrm>
            <a:off x="457200" y="182880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4. Two-Stage OTA Error Amplifier (OTA.sch)</a:t>
            </a:r>
            <a:endParaRPr/>
          </a:p>
        </p:txBody>
      </p:sp>
      <p:sp>
        <p:nvSpPr>
          <p:cNvPr id="131" name="Google Shape;131;p6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6"/>
          <p:cNvSpPr txBox="1"/>
          <p:nvPr/>
        </p:nvSpPr>
        <p:spPr>
          <a:xfrm>
            <a:off x="11064240" y="6382512"/>
            <a:ext cx="685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  <a:endParaRPr/>
          </a:p>
        </p:txBody>
      </p:sp>
      <p:sp>
        <p:nvSpPr>
          <p:cNvPr id="133" name="Google Shape;133;p6"/>
          <p:cNvSpPr txBox="1"/>
          <p:nvPr/>
        </p:nvSpPr>
        <p:spPr>
          <a:xfrm>
            <a:off x="411480" y="1097280"/>
            <a:ext cx="5669400" cy="1977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Two-stage operational transconductance amplifier driving pass transistor M1 gate.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First Stage: PMOS LVT differential pair (Mn, Mp with W=26 µm, L=1 µm, nf=4) with NMOS active load mirror (Mnr, Mpr with W=6 µm, L=1 µm, nf=4).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Second Stage: Common-source NMOS stage (Mo with W=8 µm, L=2 µm, nf=8) with PMOS active load (Mrc2 with W=50 µm, L=2 µm, nf=8).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Miller Compensation: MIM capacitor C1 = 5.0 pF (44.6 µm × 56 µm) and nulling resistor R10 = 518.4 kΩ.</a:t>
            </a:r>
            <a:endParaRPr/>
          </a:p>
        </p:txBody>
      </p:sp>
      <p:graphicFrame>
        <p:nvGraphicFramePr>
          <p:cNvPr id="134" name="Google Shape;134;p6"/>
          <p:cNvGraphicFramePr/>
          <p:nvPr/>
        </p:nvGraphicFramePr>
        <p:xfrm>
          <a:off x="411480" y="361188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{1B138363-E9CC-4FF8-A480-7A5BD892BA98}</a:tableStyleId>
              </a:tblPr>
              <a:tblGrid>
                <a:gridCol w="960125"/>
                <a:gridCol w="1280150"/>
                <a:gridCol w="777250"/>
                <a:gridCol w="548650"/>
                <a:gridCol w="502925"/>
                <a:gridCol w="1645925"/>
              </a:tblGrid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Device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1235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Sky130A Model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1235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W [µm]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1235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 [µm]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1235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nf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1235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Function in OTA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12356E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Mn, Mp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pfet_01v8_lvt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26.0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Input differential pair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Mnr, Mpr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nfet_01v8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6.0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950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Active load mirror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Mrc1 / Mr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pfet_01v8_lvt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 / 12.5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 / 2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Tail current source &amp; mirror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Mrc2 / Mo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pfet_lvt / nfet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50 / 8.0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2.0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 / 8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Second-stage output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Mnref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nfet_01v8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8.0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VGN bias sink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</a:tr>
              <a:tr h="3017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C1 / R10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cap_mim / res_po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44.6×56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9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Miller network (5pF + 518kΩ)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pic>
        <p:nvPicPr>
          <p:cNvPr descr="ota_sch.png" id="135" name="Google Shape;135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80751" y="1752575"/>
            <a:ext cx="6204649" cy="43432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7"/>
          <p:cNvSpPr txBox="1"/>
          <p:nvPr/>
        </p:nvSpPr>
        <p:spPr>
          <a:xfrm>
            <a:off x="457200" y="182880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5. Pre-Layout Simulation: AC Stability &amp; PSRR (PVT)</a:t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7"/>
          <p:cNvSpPr txBox="1"/>
          <p:nvPr/>
        </p:nvSpPr>
        <p:spPr>
          <a:xfrm>
            <a:off x="11064240" y="6382512"/>
            <a:ext cx="685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  <a:endParaRPr/>
          </a:p>
        </p:txBody>
      </p:sp>
      <p:pic>
        <p:nvPicPr>
          <p:cNvPr descr="estabilidad.png" id="143" name="Google Shape;143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40080" y="1097280"/>
            <a:ext cx="4676386" cy="37033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srr.png" id="144" name="Google Shape;144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35040" y="1097280"/>
            <a:ext cx="5766243" cy="370332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7"/>
          <p:cNvSpPr txBox="1"/>
          <p:nvPr/>
        </p:nvSpPr>
        <p:spPr>
          <a:xfrm>
            <a:off x="502920" y="4937760"/>
            <a:ext cx="11155680" cy="14173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Sweep across 225 PVT corners: T ∈ {-40 °C, 27 °C, 125 °C}, VDD ∈ {1.62 V, 1.80 V, 1.98 V}, and 25 Sky130 process corners.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Open-Loop Stability (Iload = 5 mA): Mean Phase Margin = 92.69° (min = 64.18°, max = 123.50°); Mean UGB = 275.3 kHz.</a:t>
            </a:r>
            <a:endParaRPr/>
          </a:p>
          <a:p>
            <a:pPr indent="0" lvl="0" marL="0" marR="0" rtl="0" algn="l">
              <a:spcBef>
                <a:spcPts val="40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Power Supply Rejection Ratio (PSRR): Mean of 64.90 dB @ 10 Hz, 62.36 dB @ 1 kHz, 55.49 dB @ 10 kHz, and 48.46 dB @ 1 MHz.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8"/>
          <p:cNvSpPr txBox="1"/>
          <p:nvPr/>
        </p:nvSpPr>
        <p:spPr>
          <a:xfrm>
            <a:off x="457200" y="182880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6. Pre-Layout Simulation: Transient &amp; Regulations</a:t>
            </a:r>
            <a:endParaRPr/>
          </a:p>
        </p:txBody>
      </p:sp>
      <p:sp>
        <p:nvSpPr>
          <p:cNvPr id="151" name="Google Shape;151;p8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8"/>
          <p:cNvSpPr txBox="1"/>
          <p:nvPr/>
        </p:nvSpPr>
        <p:spPr>
          <a:xfrm>
            <a:off x="11064240" y="6382512"/>
            <a:ext cx="685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8</a:t>
            </a:r>
            <a:endParaRPr/>
          </a:p>
        </p:txBody>
      </p:sp>
      <p:pic>
        <p:nvPicPr>
          <p:cNvPr descr="tran.png" id="153" name="Google Shape;153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078992"/>
            <a:ext cx="3685255" cy="2331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fica_regulacion_linea.png" id="154" name="Google Shape;154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1960" y="1078992"/>
            <a:ext cx="3609901" cy="2331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fica_regulacion_carga.png" id="155" name="Google Shape;155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2440" y="1078992"/>
            <a:ext cx="3685255" cy="233172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56" name="Google Shape;156;p8"/>
          <p:cNvGraphicFramePr/>
          <p:nvPr/>
        </p:nvGraphicFramePr>
        <p:xfrm>
          <a:off x="594360" y="358444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{1B138363-E9CC-4FF8-A480-7A5BD892BA98}</a:tableStyleId>
              </a:tblPr>
              <a:tblGrid>
                <a:gridCol w="4754875"/>
                <a:gridCol w="1554475"/>
                <a:gridCol w="1828800"/>
                <a:gridCol w="1554475"/>
                <a:gridCol w="1280150"/>
              </a:tblGrid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Pre-Layout Metric (225 PVT Corners, Iload = 5 mA)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1235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Minimum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1235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Mean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1235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Maximum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1235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Unit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12356E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Transient Output Voltage (Vo_tran)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1.1776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1.1972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1.1998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Undershoot on 1 µA → 5 mA step (tr = 100 ns)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2.072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3.883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6.669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mV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Overshoot on 5 mA → 1 µA step (tf = 100 ns)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1.000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3.132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5.616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mV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Load Regulation (Iload from 1 µA to 5 mA)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0.602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1.436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8.739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mV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Line Regulation (VIN from 1.4 V to 1.8 V)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0.286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2.631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11.50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mV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</a:tr>
              <a:tr h="3200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Dropout Voltage (at 90% of Vo_nom)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34.33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58.15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84.79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5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mV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9"/>
          <p:cNvSpPr txBox="1"/>
          <p:nvPr/>
        </p:nvSpPr>
        <p:spPr>
          <a:xfrm>
            <a:off x="457200" y="182880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7. Monte Carlo Statistical Analysis (tt_mm, Iload = 5 mA)</a:t>
            </a:r>
            <a:endParaRPr/>
          </a:p>
        </p:txBody>
      </p:sp>
      <p:sp>
        <p:nvSpPr>
          <p:cNvPr id="162" name="Google Shape;162;p9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9"/>
          <p:cNvSpPr txBox="1"/>
          <p:nvPr/>
        </p:nvSpPr>
        <p:spPr>
          <a:xfrm>
            <a:off x="11064240" y="6382512"/>
            <a:ext cx="685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9</a:t>
            </a:r>
            <a:endParaRPr/>
          </a:p>
        </p:txBody>
      </p:sp>
      <p:pic>
        <p:nvPicPr>
          <p:cNvPr descr="distribucion_Voltaje de salida en tran (V).png" id="164" name="Google Shape;16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1480" y="1097280"/>
            <a:ext cx="3657600" cy="17994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stribucion_Load Reg (mV).png" id="165" name="Google Shape;165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51960" y="1097280"/>
            <a:ext cx="3657600" cy="17994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stribucion_Line Reg (mV).png" id="166" name="Google Shape;166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2440" y="1097280"/>
            <a:ext cx="3657600" cy="17994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stribucion_PSRR 1k (dB).png" id="167" name="Google Shape;167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411480" y="3749039"/>
            <a:ext cx="3657600" cy="17994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stribucion_Dropout (mV).png" id="168" name="Google Shape;168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251960" y="3749039"/>
            <a:ext cx="3657600" cy="17994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distribucion_Overshoot (mV).png" id="169" name="Google Shape;169;p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092440" y="3749039"/>
            <a:ext cx="3657600" cy="17994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10"/>
          <p:cNvSpPr txBox="1"/>
          <p:nvPr/>
        </p:nvSpPr>
        <p:spPr>
          <a:xfrm>
            <a:off x="457200" y="182880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8. Physical Layout Design &amp; M4/M5 Power Grid (LDO.gds)</a:t>
            </a:r>
            <a:endParaRPr/>
          </a:p>
        </p:txBody>
      </p:sp>
      <p:sp>
        <p:nvSpPr>
          <p:cNvPr id="175" name="Google Shape;175;p10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0"/>
          <p:cNvSpPr txBox="1"/>
          <p:nvPr/>
        </p:nvSpPr>
        <p:spPr>
          <a:xfrm>
            <a:off x="11064240" y="6382512"/>
            <a:ext cx="685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10</a:t>
            </a:r>
            <a:endParaRPr/>
          </a:p>
        </p:txBody>
      </p:sp>
      <p:sp>
        <p:nvSpPr>
          <p:cNvPr id="177" name="Google Shape;177;p10"/>
          <p:cNvSpPr txBox="1"/>
          <p:nvPr/>
        </p:nvSpPr>
        <p:spPr>
          <a:xfrm>
            <a:off x="8138160" y="1170432"/>
            <a:ext cx="3703200" cy="40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Total Dimensions: Width = 152.43 µm (≤ 180 µm), Height = 82.91 µm (≤ 115 µm), Area = 0.0126 mm².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Power Grid Compliance (Section 11): Vertical distribution tracks on Metal 4 (M4) connected to horizontal main VDD and VSS rails on Metal 5 (M5).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Matching &amp; Symmetry: OTA differential pair and current mirrors surrounded by dedicated guard rings for latch-up and substrate noise immunity.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Pass Transistor M1: 75-finger interdigitated array (Wtotal = 750 µm) in the upper region with dense M1–M</a:t>
            </a:r>
            <a:r>
              <a:rPr lang="en-US" sz="1300"/>
              <a:t>3</a:t>
            </a: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vias to minimize </a:t>
            </a:r>
            <a:r>
              <a:rPr lang="en-US" sz="1300"/>
              <a:t>IR drop </a:t>
            </a: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and series resistance.</a:t>
            </a:r>
            <a:endParaRPr/>
          </a:p>
          <a:p>
            <a:pPr indent="0" lvl="0" marL="0" marR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b="0" i="0" lang="en-US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MIM Capacitors (M3/M4): Placed in the lower region efficiently utilizing the area beneath top-level routing.</a:t>
            </a:r>
            <a:endParaRPr/>
          </a:p>
        </p:txBody>
      </p:sp>
      <p:pic>
        <p:nvPicPr>
          <p:cNvPr id="178" name="Google Shape;178;p10" title="lyout_ldo_bloques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39952"/>
            <a:ext cx="7833359" cy="450707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1"/>
          <p:cNvSpPr txBox="1"/>
          <p:nvPr/>
        </p:nvSpPr>
        <p:spPr>
          <a:xfrm>
            <a:off x="457200" y="182880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9. Physical Verification Evidence: Clean DRC &amp; LVS</a:t>
            </a:r>
            <a:endParaRPr/>
          </a:p>
        </p:txBody>
      </p:sp>
      <p:sp>
        <p:nvSpPr>
          <p:cNvPr id="184" name="Google Shape;184;p11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1"/>
          <p:cNvSpPr txBox="1"/>
          <p:nvPr/>
        </p:nvSpPr>
        <p:spPr>
          <a:xfrm>
            <a:off x="11064240" y="6382512"/>
            <a:ext cx="685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11</a:t>
            </a:r>
            <a:endParaRPr/>
          </a:p>
        </p:txBody>
      </p:sp>
      <p:pic>
        <p:nvPicPr>
          <p:cNvPr descr="Imagen pegada (3).png" id="186" name="Google Shape;18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7200" y="1170432"/>
            <a:ext cx="5486400" cy="341127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n pegada.png" id="187" name="Google Shape;187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17920" y="1170432"/>
            <a:ext cx="5486400" cy="3937062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11"/>
          <p:cNvSpPr txBox="1"/>
          <p:nvPr/>
        </p:nvSpPr>
        <p:spPr>
          <a:xfrm>
            <a:off x="502920" y="5074920"/>
            <a:ext cx="11155800" cy="779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DRC Verification: Executed in KLayout using the official SKY130 DRC runset on top cell 'LDO'. Result: 0 violations (100% clean).</a:t>
            </a:r>
            <a:endParaRPr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LVS Verification (Right - LDO.lvsdb): Executed in KLayout comparing hierarchical layout 'LDO.gds' against Xschem schematic. Result: Exact match (green) across all 3 hierarchical levels (LDO, OTA, and self_bias).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2"/>
          <p:cNvSpPr txBox="1"/>
          <p:nvPr/>
        </p:nvSpPr>
        <p:spPr>
          <a:xfrm>
            <a:off x="457200" y="182880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10. Post-Layout (PEX) Validation: PVT Corner Curves</a:t>
            </a:r>
            <a:endParaRPr/>
          </a:p>
        </p:txBody>
      </p:sp>
      <p:sp>
        <p:nvSpPr>
          <p:cNvPr id="194" name="Google Shape;194;p12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2"/>
          <p:cNvSpPr txBox="1"/>
          <p:nvPr/>
        </p:nvSpPr>
        <p:spPr>
          <a:xfrm>
            <a:off x="11064240" y="6382512"/>
            <a:ext cx="685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12</a:t>
            </a:r>
            <a:endParaRPr/>
          </a:p>
        </p:txBody>
      </p:sp>
      <p:pic>
        <p:nvPicPr>
          <p:cNvPr descr="psrr_pex.png" id="196" name="Google Shape;196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68680" y="1078992"/>
            <a:ext cx="4255477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tran_pex.png" id="197" name="Google Shape;197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29400" y="1078992"/>
            <a:ext cx="4222764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fica_regulacion_linea_pex.png" id="198" name="Google Shape;198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68680" y="3794760"/>
            <a:ext cx="4220377" cy="25146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grafica_regulacion_carga_pex.png" id="199" name="Google Shape;199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29400" y="3794760"/>
            <a:ext cx="4224187" cy="251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13"/>
          <p:cNvSpPr txBox="1"/>
          <p:nvPr/>
        </p:nvSpPr>
        <p:spPr>
          <a:xfrm>
            <a:off x="457200" y="182880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11. Final Comparison: Pre-Layout vs. Post-Layout (PEX)</a:t>
            </a:r>
            <a:endParaRPr/>
          </a:p>
        </p:txBody>
      </p:sp>
      <p:sp>
        <p:nvSpPr>
          <p:cNvPr id="205" name="Google Shape;205;p1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3"/>
          <p:cNvSpPr txBox="1"/>
          <p:nvPr/>
        </p:nvSpPr>
        <p:spPr>
          <a:xfrm>
            <a:off x="11064240" y="6382512"/>
            <a:ext cx="685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13</a:t>
            </a:r>
            <a:endParaRPr/>
          </a:p>
        </p:txBody>
      </p:sp>
      <p:graphicFrame>
        <p:nvGraphicFramePr>
          <p:cNvPr id="207" name="Google Shape;207;p13"/>
          <p:cNvGraphicFramePr/>
          <p:nvPr/>
        </p:nvGraphicFramePr>
        <p:xfrm>
          <a:off x="411480" y="1115568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{1B138363-E9CC-4FF8-A480-7A5BD892BA98}</a:tableStyleId>
              </a:tblPr>
              <a:tblGrid>
                <a:gridCol w="3227825"/>
                <a:gridCol w="1188725"/>
                <a:gridCol w="1188725"/>
                <a:gridCol w="1188725"/>
                <a:gridCol w="1234450"/>
                <a:gridCol w="1234450"/>
                <a:gridCol w="1234450"/>
                <a:gridCol w="868675"/>
              </a:tblGrid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Parameter / Specification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1235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 Min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1235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 Mean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1235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Pre Max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1235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PEX Min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1235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PEX Mean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1235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PEX Max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12356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Unit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12356E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Settled Output Voltage (Vo_tran)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1.1776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1.1972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1.1998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1.1669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1.1959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1.1999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Line Output Voltage (Vo_line)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1.1773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1.1982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1.2000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1.1635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1.1953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1.1993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V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PSRR @ 10 Hz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22.61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64.90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115.65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16.44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63.05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110.32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PSRR @ 1 kHz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22.61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62.36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84.81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16.43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61.15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83.80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PSRR @ 10 kHz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22.45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55.49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65.44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16.37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53.90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64.04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PSRR @ 1 MHz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40.34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48.46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77.63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38.89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46.64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64.00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dB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Undershoot (1 µA → 5 mA)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2.072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3.883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6.669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1.426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3.570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6.938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mV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Overshoot (5 mA → 1 µA)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1.000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3.132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5.616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0.128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2.936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5.451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mV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Line Regulation (1.4 V – 1.8 V)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0.286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2.631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11.50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0.295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1.226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11.60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mV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Load Regulation (1 µA – 5 mA)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0.602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1.436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8.739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0.602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1.673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10.48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mV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FFFFFF"/>
                    </a:solidFill>
                  </a:tcPr>
                </a:tc>
              </a:tr>
              <a:tr h="3109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Dropout Voltage (Iload = 5 mA)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34.33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58.15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84.79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37.59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60.74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87.65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-US" sz="1000" u="none" cap="none" strike="noStrike">
                          <a:solidFill>
                            <a:srgbClr val="232323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mV</a:t>
                      </a:r>
                      <a:endParaRPr/>
                    </a:p>
                  </a:txBody>
                  <a:tcPr marT="25400" marB="25400" marR="50800" marL="50800" anchor="ctr">
                    <a:solidFill>
                      <a:srgbClr val="EEF3FA"/>
                    </a:solidFill>
                  </a:tcPr>
                </a:tc>
              </a:tr>
            </a:tbl>
          </a:graphicData>
        </a:graphic>
      </p:graphicFrame>
      <p:sp>
        <p:nvSpPr>
          <p:cNvPr id="208" name="Google Shape;208;p13"/>
          <p:cNvSpPr txBox="1"/>
          <p:nvPr/>
        </p:nvSpPr>
        <p:spPr>
          <a:xfrm>
            <a:off x="411480" y="5623560"/>
            <a:ext cx="11338560" cy="77724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5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•  Validation Conclusion: The full RC-extracted post-layout model (LDO_pex.spice, 35,359 lines) maintains accurate regulation at VOUT = 1.1959 V (&lt; 1.3 mV deviation vs. schematic), mean PSRR &gt; 61 dB up to 1 kHz, and mean Dropout of 60.74 mV.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4"/>
          <p:cNvSpPr txBox="1"/>
          <p:nvPr/>
        </p:nvSpPr>
        <p:spPr>
          <a:xfrm>
            <a:off x="457200" y="182880"/>
            <a:ext cx="11247120" cy="6583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7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Thanks</a:t>
            </a:r>
            <a:endParaRPr/>
          </a:p>
        </p:txBody>
      </p:sp>
      <p:sp>
        <p:nvSpPr>
          <p:cNvPr id="214" name="Google Shape;214;p14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000000"/>
          </a:solidFill>
          <a:ln>
            <a:noFill/>
          </a:ln>
          <a:effectLst>
            <a:outerShdw blurRad="40000" rotWithShape="0" dir="5400000" dist="23000">
              <a:srgbClr val="000000">
                <a:alpha val="34902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4"/>
          <p:cNvSpPr txBox="1"/>
          <p:nvPr/>
        </p:nvSpPr>
        <p:spPr>
          <a:xfrm>
            <a:off x="11064240" y="6382512"/>
            <a:ext cx="685800" cy="29260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100" u="none" cap="none" strike="noStrike">
                <a:solidFill>
                  <a:srgbClr val="787878"/>
                </a:solidFill>
                <a:latin typeface="Arial"/>
                <a:ea typeface="Arial"/>
                <a:cs typeface="Arial"/>
                <a:sym typeface="Arial"/>
              </a:rPr>
              <a:t>14</a:t>
            </a:r>
            <a:endParaRPr/>
          </a:p>
        </p:txBody>
      </p:sp>
      <p:pic>
        <p:nvPicPr>
          <p:cNvPr descr="logo_uis.png" id="216" name="Google Shape;216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14400" y="1691640"/>
            <a:ext cx="2200972" cy="10789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logo_onchip.png" id="217" name="Google Shape;217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29600" y="1664208"/>
            <a:ext cx="1139569" cy="109728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-004.png" id="218" name="Google Shape;218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14400" y="3017520"/>
            <a:ext cx="3977639" cy="26497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g-005.png" id="219" name="Google Shape;219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748272" y="3090672"/>
            <a:ext cx="4160520" cy="2633566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14"/>
          <p:cNvSpPr txBox="1"/>
          <p:nvPr/>
        </p:nvSpPr>
        <p:spPr>
          <a:xfrm>
            <a:off x="868680" y="5715000"/>
            <a:ext cx="59436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000" u="none" cap="none" strike="noStrik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lduran2805@gmail.com  |  </a:t>
            </a:r>
            <a:r>
              <a:rPr i="1" lang="en-US" sz="2000">
                <a:solidFill>
                  <a:srgbClr val="003399"/>
                </a:solidFill>
              </a:rPr>
              <a:t>luigy2230397</a:t>
            </a:r>
            <a:r>
              <a:rPr b="0" i="1" lang="en-US" sz="2000" u="none" cap="none" strike="noStrike">
                <a:solidFill>
                  <a:srgbClr val="003399"/>
                </a:solidFill>
                <a:latin typeface="Arial"/>
                <a:ea typeface="Arial"/>
                <a:cs typeface="Arial"/>
                <a:sym typeface="Arial"/>
              </a:rPr>
              <a:t>@correo.uis.edu.co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